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95" r:id="rId5"/>
    <p:sldId id="298" r:id="rId6"/>
    <p:sldId id="291" r:id="rId7"/>
    <p:sldId id="271" r:id="rId8"/>
    <p:sldId id="297" r:id="rId9"/>
    <p:sldId id="293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>
        <p:scale>
          <a:sx n="40" d="100"/>
          <a:sy n="40" d="100"/>
        </p:scale>
        <p:origin x="54" y="1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Line"/>
          <p:cNvSpPr/>
          <p:nvPr/>
        </p:nvSpPr>
        <p:spPr>
          <a:xfrm>
            <a:off x="0" y="6800850"/>
            <a:ext cx="12192000" cy="27432"/>
          </a:xfrm>
          <a:prstGeom prst="rect">
            <a:avLst/>
          </a:prstGeom>
          <a:solidFill>
            <a:srgbClr val="4A90B8">
              <a:alpha val="2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5F5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B0ADA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B0ADA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B0ADA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ADA5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5F5F0"/>
          </a:solidFill>
        </a:defRPr>
      </a:defPPr>
      <a:lvl1pPr marL="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5F5F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Void0"/>
          <p:cNvSpPr/>
          <p:nvPr/>
        </p:nvSpPr>
        <p:spPr>
          <a:xfrm>
            <a:off x="7620000" y="1143000"/>
            <a:ext cx="457200" cy="304800"/>
          </a:xfrm>
          <a:prstGeom prst="rect">
            <a:avLst/>
          </a:prstGeom>
          <a:solidFill>
            <a:srgbClr val="1E1E22">
              <a:alpha val="47621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Void1"/>
          <p:cNvSpPr/>
          <p:nvPr/>
        </p:nvSpPr>
        <p:spPr>
          <a:xfrm>
            <a:off x="8229600" y="1066800"/>
            <a:ext cx="381000" cy="381000"/>
          </a:xfrm>
          <a:prstGeom prst="rect">
            <a:avLst/>
          </a:prstGeom>
          <a:solidFill>
            <a:srgbClr val="1E1E22">
              <a:alpha val="41847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Void2"/>
          <p:cNvSpPr/>
          <p:nvPr/>
        </p:nvSpPr>
        <p:spPr>
          <a:xfrm>
            <a:off x="8839200" y="1219200"/>
            <a:ext cx="304800" cy="228600"/>
          </a:xfrm>
          <a:prstGeom prst="rect">
            <a:avLst/>
          </a:prstGeom>
          <a:solidFill>
            <a:srgbClr val="1E1E22">
              <a:alpha val="50113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Void3"/>
          <p:cNvSpPr/>
          <p:nvPr/>
        </p:nvSpPr>
        <p:spPr>
          <a:xfrm>
            <a:off x="7239000" y="1752600"/>
            <a:ext cx="533400" cy="228600"/>
          </a:xfrm>
          <a:prstGeom prst="rect">
            <a:avLst/>
          </a:prstGeom>
          <a:solidFill>
            <a:srgbClr val="1E1E22">
              <a:alpha val="48832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Void4"/>
          <p:cNvSpPr/>
          <p:nvPr/>
        </p:nvSpPr>
        <p:spPr>
          <a:xfrm>
            <a:off x="8001000" y="1676400"/>
            <a:ext cx="457200" cy="304800"/>
          </a:xfrm>
          <a:prstGeom prst="rect">
            <a:avLst/>
          </a:prstGeom>
          <a:solidFill>
            <a:srgbClr val="1E1E22">
              <a:alpha val="47694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Void5"/>
          <p:cNvSpPr/>
          <p:nvPr/>
        </p:nvSpPr>
        <p:spPr>
          <a:xfrm>
            <a:off x="8686800" y="1828800"/>
            <a:ext cx="381000" cy="228600"/>
          </a:xfrm>
          <a:prstGeom prst="rect">
            <a:avLst/>
          </a:prstGeom>
          <a:solidFill>
            <a:srgbClr val="1E1E22">
              <a:alpha val="43071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Void6"/>
          <p:cNvSpPr/>
          <p:nvPr/>
        </p:nvSpPr>
        <p:spPr>
          <a:xfrm>
            <a:off x="9296400" y="1600200"/>
            <a:ext cx="304800" cy="304800"/>
          </a:xfrm>
          <a:prstGeom prst="rect">
            <a:avLst/>
          </a:prstGeom>
          <a:solidFill>
            <a:srgbClr val="1E1E22">
              <a:alpha val="4531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Void7"/>
          <p:cNvSpPr/>
          <p:nvPr/>
        </p:nvSpPr>
        <p:spPr>
          <a:xfrm>
            <a:off x="7467600" y="2286000"/>
            <a:ext cx="609600" cy="304800"/>
          </a:xfrm>
          <a:prstGeom prst="rect">
            <a:avLst/>
          </a:prstGeom>
          <a:solidFill>
            <a:srgbClr val="1E1E22">
              <a:alpha val="49641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Void8"/>
          <p:cNvSpPr/>
          <p:nvPr/>
        </p:nvSpPr>
        <p:spPr>
          <a:xfrm>
            <a:off x="8305800" y="2209800"/>
            <a:ext cx="457200" cy="381000"/>
          </a:xfrm>
          <a:prstGeom prst="rect">
            <a:avLst/>
          </a:prstGeom>
          <a:solidFill>
            <a:srgbClr val="1E1E22">
              <a:alpha val="43798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Void9"/>
          <p:cNvSpPr/>
          <p:nvPr/>
        </p:nvSpPr>
        <p:spPr>
          <a:xfrm>
            <a:off x="8991600" y="2362200"/>
            <a:ext cx="381000" cy="228600"/>
          </a:xfrm>
          <a:prstGeom prst="rect">
            <a:avLst/>
          </a:prstGeom>
          <a:solidFill>
            <a:srgbClr val="1E1E22">
              <a:alpha val="538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Void10"/>
          <p:cNvSpPr/>
          <p:nvPr/>
        </p:nvSpPr>
        <p:spPr>
          <a:xfrm>
            <a:off x="9601200" y="2133600"/>
            <a:ext cx="304800" cy="304800"/>
          </a:xfrm>
          <a:prstGeom prst="rect">
            <a:avLst/>
          </a:prstGeom>
          <a:solidFill>
            <a:srgbClr val="1E1E22">
              <a:alpha val="5233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Void11"/>
          <p:cNvSpPr/>
          <p:nvPr/>
        </p:nvSpPr>
        <p:spPr>
          <a:xfrm>
            <a:off x="7848600" y="2819400"/>
            <a:ext cx="533400" cy="228600"/>
          </a:xfrm>
          <a:prstGeom prst="rect">
            <a:avLst/>
          </a:prstGeom>
          <a:solidFill>
            <a:srgbClr val="1E1E22">
              <a:alpha val="35242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Void12"/>
          <p:cNvSpPr/>
          <p:nvPr/>
        </p:nvSpPr>
        <p:spPr>
          <a:xfrm>
            <a:off x="8610600" y="2743200"/>
            <a:ext cx="381000" cy="304800"/>
          </a:xfrm>
          <a:prstGeom prst="rect">
            <a:avLst/>
          </a:prstGeom>
          <a:solidFill>
            <a:srgbClr val="1E1E22">
              <a:alpha val="46892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Void13"/>
          <p:cNvSpPr/>
          <p:nvPr/>
        </p:nvSpPr>
        <p:spPr>
          <a:xfrm>
            <a:off x="9220200" y="2895600"/>
            <a:ext cx="457200" cy="228600"/>
          </a:xfrm>
          <a:prstGeom prst="rect">
            <a:avLst/>
          </a:prstGeom>
          <a:solidFill>
            <a:srgbClr val="1E1E22">
              <a:alpha val="40994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Void14"/>
          <p:cNvSpPr/>
          <p:nvPr/>
        </p:nvSpPr>
        <p:spPr>
          <a:xfrm>
            <a:off x="7086600" y="2590800"/>
            <a:ext cx="228600" cy="228600"/>
          </a:xfrm>
          <a:prstGeom prst="rect">
            <a:avLst/>
          </a:prstGeom>
          <a:solidFill>
            <a:srgbClr val="1E1E22">
              <a:alpha val="4889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Void15"/>
          <p:cNvSpPr/>
          <p:nvPr/>
        </p:nvSpPr>
        <p:spPr>
          <a:xfrm>
            <a:off x="9753600" y="2590800"/>
            <a:ext cx="228600" cy="228600"/>
          </a:xfrm>
          <a:prstGeom prst="rect">
            <a:avLst/>
          </a:prstGeom>
          <a:solidFill>
            <a:srgbClr val="1E1E22">
              <a:alpha val="39902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Void16"/>
          <p:cNvSpPr/>
          <p:nvPr/>
        </p:nvSpPr>
        <p:spPr>
          <a:xfrm>
            <a:off x="10058400" y="1905000"/>
            <a:ext cx="228600" cy="228600"/>
          </a:xfrm>
          <a:prstGeom prst="rect">
            <a:avLst/>
          </a:prstGeom>
          <a:solidFill>
            <a:srgbClr val="1E1E22">
              <a:alpha val="43673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USOutline"/>
          <p:cNvSpPr/>
          <p:nvPr/>
        </p:nvSpPr>
        <p:spPr>
          <a:xfrm>
            <a:off x="6858000" y="914400"/>
            <a:ext cx="4114800" cy="2667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2A2A30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BigNumber"/>
          <p:cNvSpPr/>
          <p:nvPr/>
        </p:nvSpPr>
        <p:spPr>
          <a:xfrm>
            <a:off x="304800" y="914400"/>
            <a:ext cx="11582400" cy="3200400"/>
          </a:xfrm>
          <a:prstGeom prst="rect">
            <a:avLst/>
          </a:prstGeom>
          <a:noFill/>
          <a:ln w="0">
            <a:noFill/>
          </a:ln>
        </p:spPr>
        <p:txBody>
          <a:bodyPr wrap="square" anchor="ctr" anchorCtr="1"/>
          <a:lstStyle/>
          <a:p>
            <a:pPr algn="ctr"/>
            <a:r>
              <a:rPr lang="en-US" sz="14400" b="1" dirty="0">
                <a:solidFill>
                  <a:srgbClr val="FFFFFF"/>
                </a:solidFill>
                <a:latin typeface="Georgia"/>
              </a:rPr>
              <a:t>213</a:t>
            </a:r>
          </a:p>
        </p:txBody>
      </p:sp>
      <p:sp>
        <p:nvSpPr>
          <p:cNvPr id="11" name="Subtitle"/>
          <p:cNvSpPr/>
          <p:nvPr/>
        </p:nvSpPr>
        <p:spPr>
          <a:xfrm>
            <a:off x="1524000" y="431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400" dirty="0">
                <a:solidFill>
                  <a:srgbClr val="E8E5DE"/>
                </a:solidFill>
                <a:latin typeface="Segoe UI"/>
              </a:rPr>
              <a:t>counties with zero local journalists</a:t>
            </a:r>
          </a:p>
        </p:txBody>
      </p:sp>
      <p:sp>
        <p:nvSpPr>
          <p:cNvPr id="12" name="Stat"/>
          <p:cNvSpPr/>
          <p:nvPr/>
        </p:nvSpPr>
        <p:spPr>
          <a:xfrm>
            <a:off x="1524000" y="5080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800" dirty="0">
                <a:solidFill>
                  <a:srgbClr val="C8C3BB"/>
                </a:solidFill>
                <a:latin typeface="Georgia"/>
              </a:rPr>
              <a:t>When the newspaper closes, corruption rises </a:t>
            </a:r>
            <a:r>
              <a:rPr lang="en-US" sz="1800" b="1" dirty="0">
                <a:solidFill>
                  <a:srgbClr val="4A90B8"/>
                </a:solidFill>
                <a:latin typeface="Georgia"/>
              </a:rPr>
              <a:t>7%</a:t>
            </a:r>
          </a:p>
        </p:txBody>
      </p:sp>
      <p:sp>
        <p:nvSpPr>
          <p:cNvPr id="13" name="Bottom"/>
          <p:cNvSpPr/>
          <p:nvPr/>
        </p:nvSpPr>
        <p:spPr>
          <a:xfrm>
            <a:off x="1524000" y="57150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600" dirty="0">
                <a:solidFill>
                  <a:srgbClr val="B0ADA5"/>
                </a:solidFill>
                <a:latin typeface="Segoe UI"/>
              </a:rPr>
              <a:t>50 million people. Nobody writes down what happens.</a:t>
            </a:r>
          </a:p>
        </p:txBody>
      </p:sp>
      <p:sp>
        <p:nvSpPr>
          <p:cNvPr id="17" name="MapLabel"/>
          <p:cNvSpPr/>
          <p:nvPr/>
        </p:nvSpPr>
        <p:spPr>
          <a:xfrm>
            <a:off x="7391400" y="365760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4A4E52"/>
                </a:solidFill>
                <a:latin typeface="Segoe UI"/>
              </a:rPr>
              <a:t>■ places where nobody is watching</a:t>
            </a:r>
          </a:p>
        </p:txBody>
      </p:sp>
    </p:spTree>
    <p:extLst>
      <p:ext uri="{BB962C8B-B14F-4D97-AF65-F5344CB8AC3E}">
        <p14:creationId xmlns:p14="http://schemas.microsoft.com/office/powerpoint/2010/main" val="31963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bCard"/>
          <p:cNvSpPr/>
          <p:nvPr/>
        </p:nvSpPr>
        <p:spPr>
          <a:xfrm>
            <a:off x="381000" y="1295400"/>
            <a:ext cx="4876800" cy="3352800"/>
          </a:xfrm>
          <a:prstGeom prst="roundRect">
            <a:avLst>
              <a:gd name="adj" fmla="val 3000"/>
            </a:avLst>
          </a:prstGeom>
          <a:solidFill>
            <a:srgbClr val="242526"/>
          </a:solidFill>
          <a:ln w="6350">
            <a:solidFill>
              <a:srgbClr val="3A3B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FbHeader"/>
          <p:cNvSpPr/>
          <p:nvPr/>
        </p:nvSpPr>
        <p:spPr>
          <a:xfrm>
            <a:off x="533400" y="14478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1400" b="1" dirty="0">
                <a:solidFill>
                  <a:srgbClr val="E4E6EB"/>
                </a:solidFill>
                <a:latin typeface="Segoe UI"/>
              </a:rPr>
              <a:t>Liisa M.</a:t>
            </a:r>
          </a:p>
          <a:p>
            <a:pPr algn="l"/>
            <a:r>
              <a:rPr lang="en-US" sz="1400" dirty="0">
                <a:solidFill>
                  <a:srgbClr val="8A8D91"/>
                </a:solidFill>
                <a:latin typeface="Segoe UI"/>
              </a:rPr>
              <a:t>Yesterday at 21:34  ·  🌐</a:t>
            </a:r>
          </a:p>
        </p:txBody>
      </p:sp>
      <p:sp>
        <p:nvSpPr>
          <p:cNvPr id="22" name="FbBody"/>
          <p:cNvSpPr/>
          <p:nvPr/>
        </p:nvSpPr>
        <p:spPr>
          <a:xfrm>
            <a:off x="533400" y="19812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ts val="2200"/>
              </a:lnSpc>
            </a:pPr>
            <a:r>
              <a:rPr lang="en-US" sz="1500" dirty="0">
                <a:solidFill>
                  <a:srgbClr val="E4E6EB"/>
                </a:solidFill>
                <a:latin typeface="Segoe UI"/>
              </a:rPr>
              <a:t>ughhh just got out of the council meeting. they voted 5-2 to cut school funding AGAIN. Mrs Korhonen was so mad she almost walked out. like 40 people showed up and nobody cared. this town i swear</a:t>
            </a:r>
          </a:p>
        </p:txBody>
      </p:sp>
      <p:sp>
        <p:nvSpPr>
          <p:cNvPr id="23" name="FbReactions"/>
          <p:cNvSpPr/>
          <p:nvPr/>
        </p:nvSpPr>
        <p:spPr>
          <a:xfrm>
            <a:off x="533400" y="358140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1400" dirty="0">
                <a:solidFill>
                  <a:srgbClr val="8A8D91"/>
                </a:solidFill>
                <a:latin typeface="Segoe UI"/>
              </a:rPr>
              <a:t>👍 3            💬 1 comment</a:t>
            </a:r>
          </a:p>
        </p:txBody>
      </p:sp>
      <p:sp>
        <p:nvSpPr>
          <p:cNvPr id="24" name="FbFade"/>
          <p:cNvSpPr/>
          <p:nvPr/>
        </p:nvSpPr>
        <p:spPr>
          <a:xfrm>
            <a:off x="533400" y="403860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i="1" dirty="0">
                <a:solidFill>
                  <a:srgbClr val="D45B5B"/>
                </a:solidFill>
                <a:latin typeface="Segoe UI"/>
              </a:rPr>
              <a:t>↓ gone in 24 hours</a:t>
            </a:r>
          </a:p>
        </p:txBody>
      </p:sp>
      <p:sp>
        <p:nvSpPr>
          <p:cNvPr id="25" name="AIArrow"/>
          <p:cNvSpPr/>
          <p:nvPr/>
        </p:nvSpPr>
        <p:spPr>
          <a:xfrm>
            <a:off x="5334000" y="2590800"/>
            <a:ext cx="1219200" cy="457200"/>
          </a:xfrm>
          <a:prstGeom prst="rightArrow">
            <a:avLst/>
          </a:prstGeom>
          <a:solidFill>
            <a:srgbClr val="4A90B8"/>
          </a:solidFill>
          <a:ln w="0">
            <a:noFill/>
          </a:ln>
        </p:spPr>
        <p:txBody>
          <a:bodyPr wrap="none" lIns="0" tIns="0" rIns="182880" bIns="0" anchor="ctr" anchorCtr="1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26" name="ArticleCard"/>
          <p:cNvSpPr/>
          <p:nvPr/>
        </p:nvSpPr>
        <p:spPr>
          <a:xfrm>
            <a:off x="6705600" y="1295400"/>
            <a:ext cx="4876800" cy="3352800"/>
          </a:xfrm>
          <a:prstGeom prst="roundRect">
            <a:avLst>
              <a:gd name="adj" fmla="val 3000"/>
            </a:avLst>
          </a:prstGeom>
          <a:solidFill>
            <a:srgbClr val="F8F6F2"/>
          </a:solidFill>
          <a:ln w="6350">
            <a:solidFill>
              <a:srgbClr val="E0DDD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Headline"/>
          <p:cNvSpPr/>
          <p:nvPr/>
        </p:nvSpPr>
        <p:spPr>
          <a:xfrm>
            <a:off x="6934200" y="1447800"/>
            <a:ext cx="44196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1A1A1A"/>
                </a:solidFill>
                <a:latin typeface="Georgia"/>
              </a:rPr>
              <a:t>Council Approves Budget 5-2 Amid School Funding Protests</a:t>
            </a:r>
          </a:p>
        </p:txBody>
      </p:sp>
      <p:sp>
        <p:nvSpPr>
          <p:cNvPr id="28" name="ArticleBody"/>
          <p:cNvSpPr/>
          <p:nvPr/>
        </p:nvSpPr>
        <p:spPr>
          <a:xfrm>
            <a:off x="6934200" y="2286000"/>
            <a:ext cx="4419600" cy="1524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lnSpc>
                <a:spcPts val="1800"/>
              </a:lnSpc>
            </a:pPr>
            <a:r>
              <a:rPr lang="en-US" sz="1400" dirty="0">
                <a:solidFill>
                  <a:srgbClr val="3A3A3A"/>
                </a:solidFill>
                <a:latin typeface="Georgia"/>
              </a:rPr>
              <a:t>The town council voted 5-2 on Tuesday evening to approve the 2026 budget, drawing sharp criticism over proposed cuts to school funding.</a:t>
            </a:r>
          </a:p>
          <a:p>
            <a:pPr algn="l">
              <a:lnSpc>
                <a:spcPts val="18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3A3A3A"/>
                </a:solidFill>
                <a:latin typeface="Georgia"/>
              </a:rPr>
              <a:t>"Our children deserve better than this,"</a:t>
            </a:r>
            <a:r>
              <a:rPr lang="en-US" sz="1400" dirty="0">
                <a:solidFill>
                  <a:srgbClr val="3A3A3A"/>
                </a:solidFill>
                <a:latin typeface="Georgia"/>
              </a:rPr>
              <a:t> said council member Korhonen. Approximately 40 residents attended.</a:t>
            </a:r>
          </a:p>
        </p:txBody>
      </p:sp>
      <p:sp>
        <p:nvSpPr>
          <p:cNvPr id="29" name="Byline"/>
          <p:cNvSpPr/>
          <p:nvPr/>
        </p:nvSpPr>
        <p:spPr>
          <a:xfrm>
            <a:off x="6934200" y="3886200"/>
            <a:ext cx="4419600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lang="en-US" sz="1400" dirty="0">
                <a:solidFill>
                  <a:srgbClr val="8A8A8A"/>
                </a:solidFill>
                <a:latin typeface="Segoe UI"/>
              </a:rPr>
              <a:t>By Liisa M.  ·  Published  ·  </a:t>
            </a:r>
            <a:r>
              <a:rPr lang="en-US" sz="1400" dirty="0">
                <a:solidFill>
                  <a:srgbClr val="4A9B6E"/>
                </a:solidFill>
                <a:latin typeface="Segoe UI"/>
              </a:rPr>
              <a:t>● 78/100</a:t>
            </a:r>
          </a:p>
        </p:txBody>
      </p:sp>
      <p:sp>
        <p:nvSpPr>
          <p:cNvPr id="30" name="TopInsight"/>
          <p:cNvSpPr/>
          <p:nvPr/>
        </p:nvSpPr>
        <p:spPr>
          <a:xfrm>
            <a:off x="381000" y="304800"/>
            <a:ext cx="114300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/>
            <a:r>
              <a:rPr lang="en-US" sz="2800" dirty="0">
                <a:solidFill>
                  <a:srgbClr val="FFFFFF"/>
                </a:solidFill>
                <a:latin typeface="Georgia"/>
              </a:rPr>
              <a:t>The information isn't gone. Nobody </a:t>
            </a:r>
            <a:r>
              <a:rPr lang="en-US" sz="2800" b="1" dirty="0">
                <a:solidFill>
                  <a:srgbClr val="FFFFFF"/>
                </a:solidFill>
                <a:latin typeface="Georgia"/>
              </a:rPr>
              <a:t>structures</a:t>
            </a:r>
            <a:r>
              <a:rPr lang="en-US" sz="2800" dirty="0">
                <a:solidFill>
                  <a:srgbClr val="FFFFFF"/>
                </a:solidFill>
                <a:latin typeface="Georgia"/>
              </a:rPr>
              <a:t> it.</a:t>
            </a:r>
          </a:p>
        </p:txBody>
      </p:sp>
      <p:sp>
        <p:nvSpPr>
          <p:cNvPr id="31" name="UntilNow"/>
          <p:cNvSpPr/>
          <p:nvPr/>
        </p:nvSpPr>
        <p:spPr>
          <a:xfrm>
            <a:off x="381000" y="4876800"/>
            <a:ext cx="1143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600" dirty="0">
                <a:solidFill>
                  <a:srgbClr val="7B8FA0"/>
                </a:solidFill>
                <a:latin typeface="Segoe UI"/>
              </a:rPr>
              <a:t>Same content. Different container. The container matters.</a:t>
            </a:r>
          </a:p>
          <a:p>
            <a:pPr algn="ctr">
              <a:spcBef>
                <a:spcPts val="400"/>
              </a:spcBef>
            </a:pPr>
            <a:r>
              <a:rPr lang="en-US" sz="2400" b="1" dirty="0">
                <a:solidFill>
                  <a:srgbClr val="FFFFFF"/>
                </a:solidFill>
                <a:latin typeface="Georgia"/>
              </a:rPr>
              <a:t>Until now.</a:t>
            </a:r>
          </a:p>
        </p:txBody>
      </p:sp>
    </p:spTree>
    <p:extLst>
      <p:ext uri="{BB962C8B-B14F-4D97-AF65-F5344CB8AC3E}">
        <p14:creationId xmlns:p14="http://schemas.microsoft.com/office/powerpoint/2010/main" val="194194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ircle0"/>
          <p:cNvSpPr/>
          <p:nvPr/>
        </p:nvSpPr>
        <p:spPr>
          <a:xfrm>
            <a:off x="2705100" y="1828800"/>
            <a:ext cx="685800" cy="685800"/>
          </a:xfrm>
          <a:prstGeom prst="ellipse">
            <a:avLst/>
          </a:prstGeom>
          <a:solidFill>
            <a:srgbClr val="4A90B8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1" name="Name0"/>
          <p:cNvSpPr/>
          <p:nvPr/>
        </p:nvSpPr>
        <p:spPr>
          <a:xfrm>
            <a:off x="1778000" y="2743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400" b="1" dirty="0">
                <a:solidFill>
                  <a:srgbClr val="1A1A1A"/>
                </a:solidFill>
                <a:latin typeface="Georgia"/>
              </a:rPr>
              <a:t>Record</a:t>
            </a:r>
          </a:p>
        </p:txBody>
      </p:sp>
      <p:sp>
        <p:nvSpPr>
          <p:cNvPr id="32" name="Desc0"/>
          <p:cNvSpPr/>
          <p:nvPr/>
        </p:nvSpPr>
        <p:spPr>
          <a:xfrm>
            <a:off x="1778000" y="3124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5A5650"/>
                </a:solidFill>
                <a:latin typeface="Segoe UI"/>
              </a:rPr>
              <a:t>Voice memo + photos</a:t>
            </a:r>
          </a:p>
        </p:txBody>
      </p:sp>
      <p:sp>
        <p:nvSpPr>
          <p:cNvPr id="40" name="Arrow0"/>
          <p:cNvSpPr/>
          <p:nvPr/>
        </p:nvSpPr>
        <p:spPr>
          <a:xfrm>
            <a:off x="3543300" y="2080260"/>
            <a:ext cx="2057400" cy="182880"/>
          </a:xfrm>
          <a:prstGeom prst="rightArrow">
            <a:avLst/>
          </a:prstGeom>
          <a:solidFill>
            <a:srgbClr val="C0C4C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Circle1"/>
          <p:cNvSpPr/>
          <p:nvPr/>
        </p:nvSpPr>
        <p:spPr>
          <a:xfrm>
            <a:off x="5753100" y="1828800"/>
            <a:ext cx="685800" cy="685800"/>
          </a:xfrm>
          <a:prstGeom prst="ellipse">
            <a:avLst/>
          </a:prstGeom>
          <a:solidFill>
            <a:srgbClr val="7B8FA0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4" name="Name1"/>
          <p:cNvSpPr/>
          <p:nvPr/>
        </p:nvSpPr>
        <p:spPr>
          <a:xfrm>
            <a:off x="4826000" y="2743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400" b="1" dirty="0">
                <a:solidFill>
                  <a:srgbClr val="1A1A1A"/>
                </a:solidFill>
                <a:latin typeface="Georgia"/>
              </a:rPr>
              <a:t>Generate</a:t>
            </a:r>
          </a:p>
        </p:txBody>
      </p:sp>
      <p:sp>
        <p:nvSpPr>
          <p:cNvPr id="35" name="Desc1"/>
          <p:cNvSpPr/>
          <p:nvPr/>
        </p:nvSpPr>
        <p:spPr>
          <a:xfrm>
            <a:off x="4826000" y="3124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5A5650"/>
                </a:solidFill>
                <a:latin typeface="Segoe UI"/>
              </a:rPr>
              <a:t>AI writes the article</a:t>
            </a:r>
          </a:p>
        </p:txBody>
      </p:sp>
      <p:sp>
        <p:nvSpPr>
          <p:cNvPr id="41" name="Arrow1"/>
          <p:cNvSpPr/>
          <p:nvPr/>
        </p:nvSpPr>
        <p:spPr>
          <a:xfrm>
            <a:off x="6591300" y="2080260"/>
            <a:ext cx="2057400" cy="182880"/>
          </a:xfrm>
          <a:prstGeom prst="rightArrow">
            <a:avLst/>
          </a:prstGeom>
          <a:solidFill>
            <a:srgbClr val="C0C4C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Circle2"/>
          <p:cNvSpPr/>
          <p:nvPr/>
        </p:nvSpPr>
        <p:spPr>
          <a:xfrm>
            <a:off x="8801100" y="1828800"/>
            <a:ext cx="685800" cy="685800"/>
          </a:xfrm>
          <a:prstGeom prst="ellipse">
            <a:avLst/>
          </a:prstGeom>
          <a:solidFill>
            <a:srgbClr val="4A9B6E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7" name="Name2"/>
          <p:cNvSpPr/>
          <p:nvPr/>
        </p:nvSpPr>
        <p:spPr>
          <a:xfrm>
            <a:off x="7874000" y="2743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400" b="1" dirty="0">
                <a:solidFill>
                  <a:srgbClr val="1A1A1A"/>
                </a:solidFill>
                <a:latin typeface="Georgia"/>
              </a:rPr>
              <a:t>Publish</a:t>
            </a:r>
          </a:p>
        </p:txBody>
      </p:sp>
      <p:sp>
        <p:nvSpPr>
          <p:cNvPr id="38" name="Desc2"/>
          <p:cNvSpPr/>
          <p:nvPr/>
        </p:nvSpPr>
        <p:spPr>
          <a:xfrm>
            <a:off x="7874000" y="31242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5A5650"/>
                </a:solidFill>
                <a:latin typeface="Segoe UI"/>
              </a:rPr>
              <a:t>Your town has a newspaper</a:t>
            </a:r>
          </a:p>
        </p:txBody>
      </p:sp>
      <p:sp>
        <p:nvSpPr>
          <p:cNvPr id="50" name="SlideTitle"/>
          <p:cNvSpPr/>
          <p:nvPr/>
        </p:nvSpPr>
        <p:spPr>
          <a:xfrm>
            <a:off x="609600" y="1524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ctr"/>
            <a:r>
              <a:rPr lang="en-US" sz="2800" dirty="0">
                <a:solidFill>
                  <a:srgbClr val="3A3A3A"/>
                </a:solidFill>
                <a:latin typeface="Georgia"/>
              </a:rPr>
              <a:t>We built </a:t>
            </a:r>
            <a:r>
              <a:rPr lang="en-US" sz="2800" b="1" dirty="0">
                <a:solidFill>
                  <a:srgbClr val="1A1A1A"/>
                </a:solidFill>
                <a:latin typeface="Georgia"/>
              </a:rPr>
              <a:t>[Name]</a:t>
            </a:r>
            <a:r>
              <a:rPr lang="en-US" sz="2800" dirty="0">
                <a:solidFill>
                  <a:srgbClr val="3A3A3A"/>
                </a:solidFill>
                <a:latin typeface="Georgia"/>
              </a:rPr>
              <a:t>.</a:t>
            </a:r>
          </a:p>
        </p:txBody>
      </p:sp>
      <p:sp>
        <p:nvSpPr>
          <p:cNvPr id="51" name="FiveMin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000" b="1" dirty="0">
                <a:solidFill>
                  <a:srgbClr val="4A90B8"/>
                </a:solidFill>
                <a:latin typeface="Georgia"/>
              </a:rPr>
              <a:t>5 minutes</a:t>
            </a:r>
            <a:r>
              <a:rPr lang="en-US" sz="1600" dirty="0">
                <a:solidFill>
                  <a:srgbClr val="706B63"/>
                </a:solidFill>
                <a:latin typeface="Segoe UI"/>
              </a:rPr>
              <a:t>  from event to published article</a:t>
            </a:r>
          </a:p>
        </p:txBody>
      </p:sp>
      <p:pic>
        <p:nvPicPr>
          <p:cNvPr id="52" name="Graphic 52" descr="Microphone for voice-first input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9400" y="1117600"/>
            <a:ext cx="457200" cy="457200"/>
          </a:xfrm>
          <a:prstGeom prst="rect">
            <a:avLst/>
          </a:prstGeom>
        </p:spPr>
      </p:pic>
      <p:pic>
        <p:nvPicPr>
          <p:cNvPr id="53" name="Graphic 53" descr="AI brain for genera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400" y="1117600"/>
            <a:ext cx="457200" cy="457200"/>
          </a:xfrm>
          <a:prstGeom prst="rect">
            <a:avLst/>
          </a:prstGeom>
        </p:spPr>
      </p:pic>
      <p:pic>
        <p:nvPicPr>
          <p:cNvPr id="54" name="Graphic 54" descr="Newspaper for published articl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5400" y="1117600"/>
            <a:ext cx="457200" cy="457200"/>
          </a:xfrm>
          <a:prstGeom prst="rect">
            <a:avLst/>
          </a:prstGeom>
        </p:spPr>
      </p:pic>
      <p:sp>
        <p:nvSpPr>
          <p:cNvPr id="55" name="Subtext"/>
          <p:cNvSpPr/>
          <p:nvPr/>
        </p:nvSpPr>
        <p:spPr>
          <a:xfrm>
            <a:off x="609600" y="7874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7B8FA0"/>
                </a:solidFill>
                <a:latin typeface="Segoe UI"/>
              </a:rPr>
              <a:t>No journalism degree. No expensive equipment. Just a phone.</a:t>
            </a:r>
          </a:p>
        </p:txBody>
      </p:sp>
    </p:spTree>
    <p:extLst>
      <p:ext uri="{BB962C8B-B14F-4D97-AF65-F5344CB8AC3E}">
        <p14:creationId xmlns:p14="http://schemas.microsoft.com/office/powerpoint/2010/main" val="2041047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emoText"/>
          <p:cNvSpPr/>
          <p:nvPr/>
        </p:nvSpPr>
        <p:spPr>
          <a:xfrm>
            <a:off x="1524000" y="2286000"/>
            <a:ext cx="9144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n-US" sz="4800" i="1" dirty="0">
                <a:solidFill>
                  <a:srgbClr val="F5F5F0"/>
                </a:solidFill>
                <a:latin typeface="Georgia"/>
              </a:rPr>
              <a:t>Let me show you.</a:t>
            </a:r>
          </a:p>
        </p:txBody>
      </p:sp>
      <p:sp>
        <p:nvSpPr>
          <p:cNvPr id="61" name="DemoNote"/>
          <p:cNvSpPr/>
          <p:nvPr/>
        </p:nvSpPr>
        <p:spPr>
          <a:xfrm>
            <a:off x="3048000" y="5486400"/>
            <a:ext cx="609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3A3832"/>
                </a:solidFill>
                <a:latin typeface="Segoe UI"/>
              </a:rPr>
              <a:t>→ switch to live demo</a:t>
            </a:r>
          </a:p>
        </p:txBody>
      </p:sp>
    </p:spTree>
    <p:extLst>
      <p:ext uri="{BB962C8B-B14F-4D97-AF65-F5344CB8AC3E}">
        <p14:creationId xmlns:p14="http://schemas.microsoft.com/office/powerpoint/2010/main" val="202686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agline"/>
          <p:cNvSpPr/>
          <p:nvPr/>
        </p:nvSpPr>
        <p:spPr>
          <a:xfrm>
            <a:off x="609600" y="3048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/>
            <a:r>
              <a:rPr lang="en-US" sz="1800" i="1" dirty="0">
                <a:solidFill>
                  <a:srgbClr val="B0ADA5"/>
                </a:solidFill>
                <a:latin typeface="Georgia"/>
              </a:rPr>
              <a:t>But here's the part that matters.</a:t>
            </a:r>
          </a:p>
        </p:txBody>
      </p:sp>
      <p:sp>
        <p:nvSpPr>
          <p:cNvPr id="71" name="ScoreBefore"/>
          <p:cNvSpPr/>
          <p:nvPr/>
        </p:nvSpPr>
        <p:spPr>
          <a:xfrm>
            <a:off x="609600" y="9144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917"/>
          </a:solidFill>
          <a:ln w="12700">
            <a:solidFill>
              <a:srgbClr val="D45B5B">
                <a:alpha val="60000"/>
              </a:srgbClr>
            </a:solidFill>
          </a:ln>
        </p:spPr>
        <p:txBody>
          <a:bodyPr wrap="square" lIns="228600" tIns="182880" rIns="228600" bIns="182880" anchor="ctr"/>
          <a:lstStyle/>
          <a:p>
            <a:pPr algn="ctr"/>
            <a:r>
              <a:rPr lang="en-US" sz="1400" dirty="0">
                <a:solidFill>
                  <a:srgbClr val="A09A92"/>
                </a:solidFill>
                <a:latin typeface="Segoe UI"/>
              </a:rPr>
              <a:t>BEFORE</a:t>
            </a:r>
          </a:p>
          <a:p>
            <a:pPr algn="ctr"/>
            <a:r>
              <a:rPr lang="en-US" sz="7200" b="1" dirty="0">
                <a:solidFill>
                  <a:srgbClr val="D45B5B"/>
                </a:solidFill>
                <a:latin typeface="Georgia"/>
              </a:rPr>
              <a:t>64</a:t>
            </a:r>
            <a:r>
              <a:rPr lang="en-US" sz="2400" dirty="0">
                <a:solidFill>
                  <a:srgbClr val="A09A92"/>
                </a:solidFill>
                <a:latin typeface="Georgia"/>
              </a:rPr>
              <a:t>/100</a:t>
            </a:r>
          </a:p>
          <a:p>
            <a:pPr algn="ctr"/>
            <a:r>
              <a:rPr lang="en-US" sz="1400" dirty="0">
                <a:solidFill>
                  <a:srgbClr val="C45C5C"/>
                </a:solidFill>
                <a:latin typeface="Segoe UI"/>
              </a:rPr>
              <a:t>2 of 5 stakeholder voices</a:t>
            </a:r>
          </a:p>
        </p:txBody>
      </p:sp>
      <p:sp>
        <p:nvSpPr>
          <p:cNvPr id="72" name="Arrow"/>
          <p:cNvSpPr/>
          <p:nvPr/>
        </p:nvSpPr>
        <p:spPr>
          <a:xfrm>
            <a:off x="5486400" y="1828800"/>
            <a:ext cx="1219200" cy="457200"/>
          </a:xfrm>
          <a:prstGeom prst="rightArrow">
            <a:avLst/>
          </a:prstGeom>
          <a:solidFill>
            <a:srgbClr val="4A90B8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400" b="1" dirty="0">
                <a:solidFill>
                  <a:srgbClr val="0F0E0C"/>
                </a:solidFill>
                <a:latin typeface="Segoe UI"/>
              </a:rPr>
              <a:t>30s</a:t>
            </a:r>
          </a:p>
        </p:txBody>
      </p:sp>
      <p:sp>
        <p:nvSpPr>
          <p:cNvPr id="73" name="ScoreAfter"/>
          <p:cNvSpPr/>
          <p:nvPr/>
        </p:nvSpPr>
        <p:spPr>
          <a:xfrm>
            <a:off x="7010400" y="91440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1A1917"/>
          </a:solidFill>
          <a:ln w="12700">
            <a:solidFill>
              <a:srgbClr val="4A9B6E">
                <a:alpha val="70000"/>
              </a:srgbClr>
            </a:solidFill>
          </a:ln>
        </p:spPr>
        <p:txBody>
          <a:bodyPr wrap="square" lIns="228600" tIns="182880" rIns="228600" bIns="182880" anchor="ctr"/>
          <a:lstStyle/>
          <a:p>
            <a:pPr algn="ctr"/>
            <a:r>
              <a:rPr lang="en-US" sz="1400" dirty="0">
                <a:solidFill>
                  <a:srgbClr val="A09A92"/>
                </a:solidFill>
                <a:latin typeface="Segoe UI"/>
              </a:rPr>
              <a:t>AFTER</a:t>
            </a:r>
          </a:p>
          <a:p>
            <a:pPr algn="ctr"/>
            <a:r>
              <a:rPr lang="en-US" sz="7200" b="1" dirty="0">
                <a:solidFill>
                  <a:srgbClr val="4A9B6E"/>
                </a:solidFill>
                <a:latin typeface="Georgia"/>
              </a:rPr>
              <a:t>81</a:t>
            </a:r>
            <a:r>
              <a:rPr lang="en-US" sz="2400" dirty="0">
                <a:solidFill>
                  <a:srgbClr val="A09A92"/>
                </a:solidFill>
                <a:latin typeface="Georgia"/>
              </a:rPr>
              <a:t>/100</a:t>
            </a:r>
          </a:p>
          <a:p>
            <a:pPr algn="ctr"/>
            <a:r>
              <a:rPr lang="en-US" sz="1400" dirty="0">
                <a:solidFill>
                  <a:srgbClr val="4A9B6E"/>
                </a:solidFill>
                <a:latin typeface="Segoe UI"/>
              </a:rPr>
              <a:t>4 of 5 stakeholder voices</a:t>
            </a:r>
          </a:p>
        </p:txBody>
      </p:sp>
      <p:sp>
        <p:nvSpPr>
          <p:cNvPr id="74" name="InsightLine"/>
          <p:cNvSpPr/>
          <p:nvPr/>
        </p:nvSpPr>
        <p:spPr>
          <a:xfrm>
            <a:off x="609600" y="36576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600" dirty="0">
                <a:solidFill>
                  <a:srgbClr val="B0ADA5"/>
                </a:solidFill>
                <a:latin typeface="Segoe UI"/>
              </a:rPr>
              <a:t>The AI didn't just check grammar. It asked:</a:t>
            </a:r>
          </a:p>
        </p:txBody>
      </p:sp>
      <p:sp>
        <p:nvSpPr>
          <p:cNvPr id="75" name="KeyQuestion"/>
          <p:cNvSpPr/>
          <p:nvPr/>
        </p:nvSpPr>
        <p:spPr>
          <a:xfrm>
            <a:off x="609600" y="4114800"/>
            <a:ext cx="10972800" cy="9144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3200" b="1" i="1" dirty="0">
                <a:solidFill>
                  <a:srgbClr val="FFFFFF"/>
                </a:solidFill>
                <a:latin typeface="Georgia"/>
              </a:rPr>
              <a:t>"Whose voice is missing from this story?"</a:t>
            </a:r>
          </a:p>
        </p:txBody>
      </p:sp>
      <p:sp>
        <p:nvSpPr>
          <p:cNvPr id="76" name="Footer"/>
          <p:cNvSpPr/>
          <p:nvPr/>
        </p:nvSpPr>
        <p:spPr>
          <a:xfrm>
            <a:off x="609600" y="53340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A0A4A8"/>
                </a:solidFill>
                <a:latin typeface="Segoe UI"/>
              </a:rPr>
              <a:t>Samu grabbed a judge. Recorded 30 seconds. Re-generated. Flag cleared.</a:t>
            </a:r>
          </a:p>
        </p:txBody>
      </p:sp>
    </p:spTree>
    <p:extLst>
      <p:ext uri="{BB962C8B-B14F-4D97-AF65-F5344CB8AC3E}">
        <p14:creationId xmlns:p14="http://schemas.microsoft.com/office/powerpoint/2010/main" val="151936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eftCol"/>
          <p:cNvSpPr/>
          <p:nvPr/>
        </p:nvSpPr>
        <p:spPr>
          <a:xfrm>
            <a:off x="304800" y="457200"/>
            <a:ext cx="5486400" cy="32004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5A5650"/>
                </a:solidFill>
                <a:latin typeface="Segoe UI"/>
              </a:rPr>
              <a:t>Traditional newspaper</a:t>
            </a:r>
          </a:p>
          <a:p>
            <a:pPr algn="ctr"/>
            <a:r>
              <a:rPr lang="en-US" sz="7200" b="1" dirty="0">
                <a:solidFill>
                  <a:srgbClr val="C45C5C"/>
                </a:solidFill>
                <a:latin typeface="Georgia"/>
              </a:rPr>
              <a:t>$300K</a:t>
            </a:r>
          </a:p>
          <a:p>
            <a:pPr algn="ctr"/>
            <a:r>
              <a:rPr lang="en-US" sz="1800" dirty="0">
                <a:solidFill>
                  <a:srgbClr val="5A5650"/>
                </a:solidFill>
                <a:latin typeface="Segoe UI"/>
              </a:rPr>
              <a:t>per year, per town</a:t>
            </a:r>
          </a:p>
        </p:txBody>
      </p:sp>
      <p:sp>
        <p:nvSpPr>
          <p:cNvPr id="81" name="Divider"/>
          <p:cNvSpPr/>
          <p:nvPr/>
        </p:nvSpPr>
        <p:spPr>
          <a:xfrm>
            <a:off x="6019800" y="762000"/>
            <a:ext cx="18288" cy="2438400"/>
          </a:xfrm>
          <a:prstGeom prst="rect">
            <a:avLst/>
          </a:prstGeom>
          <a:solidFill>
            <a:srgbClr val="D4D0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RightCol"/>
          <p:cNvSpPr/>
          <p:nvPr/>
        </p:nvSpPr>
        <p:spPr>
          <a:xfrm>
            <a:off x="6400800" y="457200"/>
            <a:ext cx="5486400" cy="32004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5A5650"/>
                </a:solidFill>
                <a:latin typeface="Segoe UI"/>
              </a:rPr>
              <a:t>Our platform</a:t>
            </a:r>
          </a:p>
          <a:p>
            <a:pPr algn="ctr"/>
            <a:r>
              <a:rPr lang="en-US" sz="7200" b="1" dirty="0">
                <a:solidFill>
                  <a:srgbClr val="4A9B6E"/>
                </a:solidFill>
                <a:latin typeface="Georgia"/>
              </a:rPr>
              <a:t>$5</a:t>
            </a:r>
          </a:p>
          <a:p>
            <a:pPr algn="ctr"/>
            <a:r>
              <a:rPr lang="en-US" sz="1800" dirty="0">
                <a:solidFill>
                  <a:srgbClr val="5A5650"/>
                </a:solidFill>
                <a:latin typeface="Segoe UI"/>
              </a:rPr>
              <a:t>per year, per town</a:t>
            </a:r>
          </a:p>
        </p:txBody>
      </p:sp>
      <p:sp>
        <p:nvSpPr>
          <p:cNvPr id="83" name="HDivider"/>
          <p:cNvSpPr/>
          <p:nvPr/>
        </p:nvSpPr>
        <p:spPr>
          <a:xfrm>
            <a:off x="1524000" y="3886200"/>
            <a:ext cx="9144000" cy="18288"/>
          </a:xfrm>
          <a:prstGeom prst="rect">
            <a:avLst/>
          </a:prstGeom>
          <a:solidFill>
            <a:srgbClr val="D4D0C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Stats"/>
          <p:cNvSpPr/>
          <p:nvPr/>
        </p:nvSpPr>
        <p:spPr>
          <a:xfrm>
            <a:off x="304800" y="4114800"/>
            <a:ext cx="11582400" cy="13716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/>
            <a:r>
              <a:rPr lang="en-US" sz="2000" b="1" dirty="0">
                <a:solidFill>
                  <a:srgbClr val="4A90B8"/>
                </a:solidFill>
                <a:latin typeface="Georgia"/>
              </a:rPr>
              <a:t>20,000+</a:t>
            </a:r>
            <a:r>
              <a:rPr lang="en-US" sz="1600" dirty="0">
                <a:solidFill>
                  <a:srgbClr val="4A4540"/>
                </a:solidFill>
                <a:latin typeface="Segoe UI"/>
              </a:rPr>
              <a:t> news deserts globally          </a:t>
            </a:r>
            <a:r>
              <a:rPr lang="en-US" sz="2000" b="1" dirty="0">
                <a:solidFill>
                  <a:srgbClr val="4A90B8"/>
                </a:solidFill>
                <a:latin typeface="Georgia"/>
              </a:rPr>
              <a:t>24%</a:t>
            </a:r>
            <a:r>
              <a:rPr lang="en-US" sz="1600" dirty="0">
                <a:solidFill>
                  <a:srgbClr val="4A4540"/>
                </a:solidFill>
                <a:latin typeface="Segoe UI"/>
              </a:rPr>
              <a:t> paid conversion on local          </a:t>
            </a:r>
            <a:r>
              <a:rPr lang="en-US" sz="2000" b="1" dirty="0">
                <a:solidFill>
                  <a:srgbClr val="4A90B8"/>
                </a:solidFill>
                <a:latin typeface="Georgia"/>
              </a:rPr>
              <a:t>$0.05</a:t>
            </a:r>
            <a:r>
              <a:rPr lang="en-US" sz="1600" dirty="0">
                <a:solidFill>
                  <a:srgbClr val="4A4540"/>
                </a:solidFill>
                <a:latin typeface="Segoe UI"/>
              </a:rPr>
              <a:t> per article</a:t>
            </a:r>
          </a:p>
          <a:p>
            <a:pPr algn="ctr">
              <a:spcBef>
                <a:spcPts val="1200"/>
              </a:spcBef>
            </a:pPr>
            <a:r>
              <a:rPr lang="en-US" sz="1400" dirty="0">
                <a:solidFill>
                  <a:srgbClr val="5A5650"/>
                </a:solidFill>
                <a:latin typeface="Segoe UI"/>
              </a:rPr>
              <a:t>Nobody else combines citizen input + AI generation + quality review</a:t>
            </a:r>
          </a:p>
        </p:txBody>
      </p:sp>
    </p:spTree>
    <p:extLst>
      <p:ext uri="{BB962C8B-B14F-4D97-AF65-F5344CB8AC3E}">
        <p14:creationId xmlns:p14="http://schemas.microsoft.com/office/powerpoint/2010/main" val="98154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opLine1"/>
          <p:cNvSpPr/>
          <p:nvPr/>
        </p:nvSpPr>
        <p:spPr>
          <a:xfrm>
            <a:off x="1524000" y="914400"/>
            <a:ext cx="9144000" cy="27432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opLine2"/>
          <p:cNvSpPr/>
          <p:nvPr/>
        </p:nvSpPr>
        <p:spPr>
          <a:xfrm>
            <a:off x="1524000" y="990600"/>
            <a:ext cx="9144000" cy="9144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Statement"/>
          <p:cNvSpPr/>
          <p:nvPr/>
        </p:nvSpPr>
        <p:spPr>
          <a:xfrm>
            <a:off x="1524000" y="1219200"/>
            <a:ext cx="9144000" cy="27432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lnSpc>
                <a:spcPts val="3200"/>
              </a:lnSpc>
            </a:pPr>
            <a:r>
              <a:rPr lang="en-US" sz="2200" dirty="0">
                <a:solidFill>
                  <a:srgbClr val="2A2826"/>
                </a:solidFill>
                <a:latin typeface="Georgia"/>
              </a:rPr>
              <a:t>Local news didn't die because people stopped caring.</a:t>
            </a:r>
          </a:p>
          <a:p>
            <a:pPr algn="ctr">
              <a:lnSpc>
                <a:spcPts val="3200"/>
              </a:lnSpc>
            </a:pPr>
            <a:r>
              <a:rPr lang="en-US" sz="2200" dirty="0">
                <a:solidFill>
                  <a:srgbClr val="2A2826"/>
                </a:solidFill>
                <a:latin typeface="Georgia"/>
              </a:rPr>
              <a:t>It died because the economics broke.</a:t>
            </a:r>
          </a:p>
          <a:p>
            <a:pPr algn="ctr">
              <a:lnSpc>
                <a:spcPts val="3200"/>
              </a:lnSpc>
              <a:spcBef>
                <a:spcPts val="800"/>
              </a:spcBef>
            </a:pPr>
            <a:r>
              <a:rPr lang="en-US" sz="2200" dirty="0">
                <a:solidFill>
                  <a:srgbClr val="2A2826"/>
                </a:solidFill>
                <a:latin typeface="Georgia"/>
              </a:rPr>
              <a:t>AI fixes the economics.</a:t>
            </a:r>
          </a:p>
          <a:p>
            <a:pPr algn="ctr">
              <a:lnSpc>
                <a:spcPts val="3200"/>
              </a:lnSpc>
            </a:pPr>
            <a:r>
              <a:rPr lang="en-US" sz="2200" dirty="0">
                <a:solidFill>
                  <a:srgbClr val="2A2826"/>
                </a:solidFill>
                <a:latin typeface="Georgia"/>
              </a:rPr>
              <a:t>But we went further —</a:t>
            </a:r>
          </a:p>
          <a:p>
            <a:pPr algn="ctr">
              <a:lnSpc>
                <a:spcPts val="3200"/>
              </a:lnSpc>
            </a:pPr>
            <a:r>
              <a:rPr lang="en-US" sz="2200" b="1" dirty="0">
                <a:solidFill>
                  <a:srgbClr val="1A1A1A"/>
                </a:solidFill>
                <a:latin typeface="Georgia"/>
              </a:rPr>
              <a:t>AI fixes the blind spots too.</a:t>
            </a:r>
          </a:p>
        </p:txBody>
      </p:sp>
      <p:sp>
        <p:nvSpPr>
          <p:cNvPr id="93" name="MidDivider"/>
          <p:cNvSpPr/>
          <p:nvPr/>
        </p:nvSpPr>
        <p:spPr>
          <a:xfrm>
            <a:off x="4572000" y="4038600"/>
            <a:ext cx="3048000" cy="9144"/>
          </a:xfrm>
          <a:prstGeom prst="rect">
            <a:avLst/>
          </a:prstGeom>
          <a:solidFill>
            <a:srgbClr val="4A90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Punchline"/>
          <p:cNvSpPr/>
          <p:nvPr/>
        </p:nvSpPr>
        <p:spPr>
          <a:xfrm>
            <a:off x="1524000" y="4191000"/>
            <a:ext cx="914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lnSpc>
                <a:spcPts val="3400"/>
              </a:lnSpc>
            </a:pPr>
            <a:r>
              <a:rPr lang="en-US" sz="2800" b="1" dirty="0">
                <a:solidFill>
                  <a:srgbClr val="1A1A1A"/>
                </a:solidFill>
                <a:latin typeface="Georgia"/>
              </a:rPr>
              <a:t>Your town gets a newspaper.</a:t>
            </a:r>
          </a:p>
          <a:p>
            <a:pPr algn="ctr">
              <a:lnSpc>
                <a:spcPts val="3400"/>
              </a:lnSpc>
            </a:pPr>
            <a:r>
              <a:rPr lang="en-US" sz="2800" b="1" dirty="0">
                <a:solidFill>
                  <a:srgbClr val="4A90B8"/>
                </a:solidFill>
                <a:latin typeface="Georgia"/>
              </a:rPr>
              <a:t>A better newspaper.</a:t>
            </a:r>
          </a:p>
        </p:txBody>
      </p:sp>
      <p:sp>
        <p:nvSpPr>
          <p:cNvPr id="95" name="URLBar"/>
          <p:cNvSpPr/>
          <p:nvPr/>
        </p:nvSpPr>
        <p:spPr>
          <a:xfrm>
            <a:off x="2286000" y="5334000"/>
            <a:ext cx="7620000" cy="533400"/>
          </a:xfrm>
          <a:prstGeom prst="roundRect">
            <a:avLst>
              <a:gd name="adj" fmla="val 16667"/>
            </a:avLst>
          </a:prstGeom>
          <a:solidFill>
            <a:srgbClr val="0F0F11"/>
          </a:solidFill>
          <a:ln w="0">
            <a:noFill/>
          </a:ln>
        </p:spPr>
        <p:txBody>
          <a:bodyPr wrap="square" lIns="182880" tIns="0" rIns="182880" bIns="0" anchor="ctr"/>
          <a:lstStyle/>
          <a:p>
            <a:pPr algn="ctr"/>
            <a:r>
              <a:rPr lang="en-US" sz="1800" dirty="0">
                <a:solidFill>
                  <a:srgbClr val="C0C4C8"/>
                </a:solidFill>
                <a:latin typeface="Segoe UI"/>
              </a:rPr>
              <a:t>Check it. It's live right now.    </a:t>
            </a:r>
            <a:r>
              <a:rPr lang="en-US" sz="1800" b="1" dirty="0">
                <a:solidFill>
                  <a:srgbClr val="FFFFFF"/>
                </a:solidFill>
                <a:latin typeface="Segoe UI"/>
              </a:rPr>
              <a:t>[your-live-url.app]</a:t>
            </a:r>
          </a:p>
        </p:txBody>
      </p:sp>
      <p:sp>
        <p:nvSpPr>
          <p:cNvPr id="96" name="BotLine1"/>
          <p:cNvSpPr/>
          <p:nvPr/>
        </p:nvSpPr>
        <p:spPr>
          <a:xfrm>
            <a:off x="1524000" y="6096000"/>
            <a:ext cx="9144000" cy="9144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BotLine2"/>
          <p:cNvSpPr/>
          <p:nvPr/>
        </p:nvSpPr>
        <p:spPr>
          <a:xfrm>
            <a:off x="1524000" y="6172200"/>
            <a:ext cx="9144000" cy="27432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1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ustere News">
      <a:dk1>
        <a:srgbClr val="FFFFFF"/>
      </a:dk1>
      <a:lt1>
        <a:srgbClr val="0A0A0A"/>
      </a:lt1>
      <a:dk2>
        <a:srgbClr val="A0A4A8"/>
      </a:dk2>
      <a:lt2>
        <a:srgbClr val="161618"/>
      </a:lt2>
      <a:accent1>
        <a:srgbClr val="4A90B8"/>
      </a:accent1>
      <a:accent2>
        <a:srgbClr val="D45B5B"/>
      </a:accent2>
      <a:accent3>
        <a:srgbClr val="4A9B6E"/>
      </a:accent3>
      <a:accent4>
        <a:srgbClr val="7B8FA0"/>
      </a:accent4>
      <a:accent5>
        <a:srgbClr val="C45C5C"/>
      </a:accent5>
      <a:accent6>
        <a:srgbClr val="E8E5DE"/>
      </a:accent6>
      <a:hlink>
        <a:srgbClr val="0563C1"/>
      </a:hlink>
      <a:folHlink>
        <a:srgbClr val="954F72"/>
      </a:folHlink>
    </a:clrScheme>
    <a:fontScheme name="Cinematic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9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048be3-bb9a-45f2-960b-54d552269ac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b1e4d6ee-9f6f-43f8-a618-24f3d84da28f"/>
    <ds:schemaRef ds:uri="http://purl.org/dc/terms/"/>
    <ds:schemaRef ds:uri="http://purl.org/dc/elements/1.1/"/>
    <ds:schemaRef ds:uri="http://schemas.openxmlformats.org/package/2006/metadata/core-properties"/>
    <ds:schemaRef ds:uri="f577acbf-5b0b-4b4f-9948-268e97f8d3a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380</Words>
  <Application>Microsoft Office PowerPoint</Application>
  <PresentationFormat>Laajakuva</PresentationFormat>
  <Paragraphs>59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1" baseType="lpstr">
      <vt:lpstr>Arial</vt:lpstr>
      <vt:lpstr>Georgia</vt:lpstr>
      <vt:lpstr>Segoe UI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Henri Palonen</cp:lastModifiedBy>
  <cp:revision>5</cp:revision>
  <dcterms:created xsi:type="dcterms:W3CDTF">2018-06-07T21:39:02Z</dcterms:created>
  <dcterms:modified xsi:type="dcterms:W3CDTF">2026-03-08T03:17:48Z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